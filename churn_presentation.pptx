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62" r:id="rId5"/>
    <p:sldId id="263" r:id="rId6"/>
    <p:sldId id="259" r:id="rId7"/>
    <p:sldId id="264" r:id="rId8"/>
    <p:sldId id="265" r:id="rId9"/>
    <p:sldId id="260" r:id="rId10"/>
    <p:sldId id="261" r:id="rId11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52B804-A3AB-4F96-8F16-40B7C161BB05}" v="1356" dt="2026-03-28T15:57:53.7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944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582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25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8392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512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5390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165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342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069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131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811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870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6425" y="1122363"/>
            <a:ext cx="11329938" cy="2326026"/>
          </a:xfrm>
        </p:spPr>
        <p:txBody>
          <a:bodyPr/>
          <a:lstStyle/>
          <a:p>
            <a:r>
              <a:rPr lang="en-GB" b="1" dirty="0">
                <a:solidFill>
                  <a:schemeClr val="accent1">
                    <a:lumMod val="76000"/>
                  </a:schemeClr>
                </a:solidFill>
                <a:latin typeface="Calibri"/>
                <a:ea typeface="Calibri"/>
                <a:cs typeface="Calibri"/>
              </a:rPr>
              <a:t>Customer Churn &amp; Retention </a:t>
            </a:r>
            <a:r>
              <a:rPr lang="en-GB" b="1">
                <a:solidFill>
                  <a:schemeClr val="accent1">
                    <a:lumMod val="76000"/>
                  </a:schemeClr>
                </a:solidFill>
                <a:latin typeface="Calibri"/>
                <a:ea typeface="Calibri"/>
                <a:cs typeface="Calibri"/>
              </a:rPr>
              <a:t>Analysis</a:t>
            </a:r>
            <a:endParaRPr lang="en-GB" b="1" dirty="0">
              <a:solidFill>
                <a:schemeClr val="accent1">
                  <a:lumMod val="76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22880"/>
            <a:ext cx="9144000" cy="1655762"/>
          </a:xfrm>
        </p:spPr>
        <p:txBody>
          <a:bodyPr vert="horz" lIns="91440" tIns="45720" rIns="91440" bIns="45720" rtlCol="0" anchor="ctr">
            <a:normAutofit fontScale="85000" lnSpcReduction="20000"/>
          </a:bodyPr>
          <a:lstStyle/>
          <a:p>
            <a:r>
              <a:rPr lang="en-GB" sz="3200">
                <a:latin typeface="Calibri"/>
                <a:ea typeface="Calibri"/>
                <a:cs typeface="Calibri"/>
              </a:rPr>
              <a:t>Data Driven Insights on Reducing Customer Churn</a:t>
            </a:r>
            <a:endParaRPr lang="en-US"/>
          </a:p>
          <a:p>
            <a:pPr algn="l"/>
            <a:endParaRPr lang="en-GB" sz="3200" dirty="0">
              <a:latin typeface="Calibri"/>
              <a:ea typeface="Calibri"/>
              <a:cs typeface="Calibri"/>
            </a:endParaRPr>
          </a:p>
          <a:p>
            <a:pPr algn="r"/>
            <a:r>
              <a:rPr lang="en-GB" sz="3200">
                <a:latin typeface="Calibri"/>
                <a:ea typeface="Calibri"/>
                <a:cs typeface="Calibri"/>
              </a:rPr>
              <a:t>Sanket Kulkarni</a:t>
            </a:r>
          </a:p>
          <a:p>
            <a:pPr algn="r"/>
            <a:r>
              <a:rPr lang="en-GB" sz="3200">
                <a:latin typeface="Calibri"/>
                <a:ea typeface="Calibri"/>
                <a:cs typeface="Calibri"/>
              </a:rPr>
              <a:t>March 2026</a:t>
            </a:r>
            <a:endParaRPr lang="en-GB" sz="32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664DC-B2FB-8759-8C71-CA00D03C7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>
                <a:solidFill>
                  <a:schemeClr val="accent1">
                    <a:lumMod val="76000"/>
                  </a:schemeClr>
                </a:solidFill>
                <a:latin typeface="Calibri"/>
                <a:ea typeface="Calibri"/>
                <a:cs typeface="Calibri"/>
              </a:rPr>
              <a:t>Business Problem</a:t>
            </a:r>
            <a:endParaRPr lang="en-US" sz="3200" b="1">
              <a:solidFill>
                <a:schemeClr val="accent1">
                  <a:lumMod val="76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24872-C7A0-8287-D006-2CD502ED5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/>
            <a:r>
              <a:rPr lang="en-GB" sz="2000" dirty="0">
                <a:latin typeface="Calibri"/>
                <a:ea typeface="Calibri"/>
                <a:cs typeface="Calibri"/>
              </a:rPr>
              <a:t>The telecom company is experiencing a </a:t>
            </a:r>
            <a:r>
              <a:rPr lang="en-GB" sz="2000" b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high churn rate (25-30%).</a:t>
            </a:r>
            <a:endParaRPr lang="en-GB" sz="2000" b="1" dirty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  <a:p>
            <a:pPr marL="457200" indent="-457200"/>
            <a:r>
              <a:rPr lang="en-GB" sz="2000">
                <a:latin typeface="Calibri"/>
                <a:ea typeface="Calibri"/>
                <a:cs typeface="Calibri"/>
              </a:rPr>
              <a:t>This is leading to:</a:t>
            </a:r>
            <a:endParaRPr lang="en-GB" sz="2000" dirty="0">
              <a:latin typeface="Calibri"/>
              <a:ea typeface="Calibri"/>
              <a:cs typeface="Calibri"/>
            </a:endParaRPr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n-GB" sz="2000">
                <a:latin typeface="Calibri"/>
                <a:ea typeface="Calibri"/>
                <a:cs typeface="Calibri"/>
              </a:rPr>
              <a:t>An </a:t>
            </a:r>
            <a:r>
              <a:rPr lang="en-GB" sz="2000" b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exponential loss in revenue.</a:t>
            </a:r>
            <a:endParaRPr lang="en-GB" sz="2000" dirty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n-GB" sz="2000">
                <a:latin typeface="Calibri"/>
                <a:ea typeface="Calibri"/>
                <a:cs typeface="Calibri"/>
              </a:rPr>
              <a:t>An</a:t>
            </a:r>
            <a:r>
              <a:rPr lang="en-GB" sz="2000" b="1" dirty="0">
                <a:latin typeface="Calibri"/>
                <a:ea typeface="Calibri"/>
                <a:cs typeface="Calibri"/>
              </a:rPr>
              <a:t> </a:t>
            </a:r>
            <a:r>
              <a:rPr lang="en-GB" sz="2000" b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increase in customer acquisition </a:t>
            </a: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costs (CAC)</a:t>
            </a:r>
            <a:r>
              <a:rPr lang="en-GB" sz="2000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n-GB" sz="2000" b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Reduction</a:t>
            </a: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 in Customer Lifetime Value (CLV).</a:t>
            </a:r>
          </a:p>
          <a:p>
            <a:pPr marL="457200" indent="-457200"/>
            <a:r>
              <a:rPr lang="en-GB" sz="2000" dirty="0">
                <a:latin typeface="Calibri"/>
                <a:ea typeface="Calibri"/>
                <a:cs typeface="Calibri"/>
              </a:rPr>
              <a:t>Need to identify </a:t>
            </a:r>
            <a:r>
              <a:rPr lang="en-GB" sz="2000" b="1" dirty="0">
                <a:latin typeface="Calibri"/>
                <a:ea typeface="Calibri"/>
                <a:cs typeface="Calibri"/>
              </a:rPr>
              <a:t>key drivers of churn</a:t>
            </a:r>
            <a:r>
              <a:rPr lang="en-GB" sz="2000" dirty="0">
                <a:latin typeface="Calibri"/>
                <a:ea typeface="Calibri"/>
                <a:cs typeface="Calibri"/>
              </a:rPr>
              <a:t> and </a:t>
            </a:r>
            <a:r>
              <a:rPr lang="en-GB" sz="2000" b="1" dirty="0">
                <a:latin typeface="Calibri"/>
                <a:ea typeface="Calibri"/>
                <a:cs typeface="Calibri"/>
              </a:rPr>
              <a:t>reduce customer attrition.</a:t>
            </a:r>
            <a:endParaRPr lang="en-US" sz="20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77922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F164F-F5B3-8F3B-44BC-D50A6BFF8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b="1" dirty="0">
                <a:solidFill>
                  <a:schemeClr val="accent1">
                    <a:lumMod val="76000"/>
                  </a:schemeClr>
                </a:solidFill>
                <a:latin typeface="Calibri"/>
                <a:ea typeface="Calibri"/>
                <a:cs typeface="Calibri"/>
              </a:rPr>
              <a:t>Key Insights 1 — Customer Behaviour </a:t>
            </a:r>
            <a:r>
              <a:rPr lang="en-GB" sz="3200" b="1">
                <a:solidFill>
                  <a:schemeClr val="accent1">
                    <a:lumMod val="76000"/>
                  </a:schemeClr>
                </a:solidFill>
                <a:latin typeface="Calibri"/>
                <a:ea typeface="Calibri"/>
                <a:cs typeface="Calibri"/>
              </a:rPr>
              <a:t>(Contracts and Tenure)</a:t>
            </a:r>
            <a:endParaRPr lang="en-US" sz="3200" b="1">
              <a:solidFill>
                <a:schemeClr val="accent1">
                  <a:lumMod val="76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81571-E200-7D37-F781-DE5CD17E7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sz="2000" b="1">
                <a:latin typeface="Calibri"/>
                <a:ea typeface="Calibri"/>
                <a:cs typeface="Calibri"/>
              </a:rPr>
              <a:t>Month-to-month contract</a:t>
            </a:r>
            <a:r>
              <a:rPr lang="en-GB" sz="2000">
                <a:latin typeface="Calibri"/>
                <a:ea typeface="Calibri"/>
                <a:cs typeface="Calibri"/>
              </a:rPr>
              <a:t> type shows </a:t>
            </a: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highest churn rate (43%)</a:t>
            </a:r>
          </a:p>
          <a:p>
            <a:r>
              <a:rPr lang="en-GB" sz="2000" b="1">
                <a:latin typeface="Calibri"/>
                <a:ea typeface="Calibri"/>
                <a:cs typeface="Calibri"/>
              </a:rPr>
              <a:t>New customer group</a:t>
            </a:r>
            <a:r>
              <a:rPr lang="en-GB" sz="2000">
                <a:latin typeface="Calibri"/>
                <a:ea typeface="Calibri"/>
                <a:cs typeface="Calibri"/>
              </a:rPr>
              <a:t> of tenure 0 to 12 months show </a:t>
            </a: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high churn rate (~47%)</a:t>
            </a:r>
            <a:endParaRPr lang="en-GB" sz="2000" dirty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  <a:p>
            <a:r>
              <a:rPr lang="en-GB" sz="2000" b="1">
                <a:solidFill>
                  <a:srgbClr val="00B050"/>
                </a:solidFill>
                <a:latin typeface="Calibri"/>
                <a:ea typeface="Calibri"/>
                <a:cs typeface="Calibri"/>
              </a:rPr>
              <a:t>Churn rate decreases</a:t>
            </a:r>
            <a:r>
              <a:rPr lang="en-GB" sz="2000">
                <a:latin typeface="Calibri"/>
                <a:ea typeface="Calibri"/>
                <a:cs typeface="Calibri"/>
              </a:rPr>
              <a:t> with </a:t>
            </a:r>
            <a:r>
              <a:rPr lang="en-GB" sz="2000" b="1">
                <a:latin typeface="Calibri"/>
                <a:ea typeface="Calibri"/>
                <a:cs typeface="Calibri"/>
              </a:rPr>
              <a:t>increase in contract type</a:t>
            </a:r>
            <a:r>
              <a:rPr lang="en-GB" sz="2000">
                <a:latin typeface="Calibri"/>
                <a:ea typeface="Calibri"/>
                <a:cs typeface="Calibri"/>
              </a:rPr>
              <a:t>:</a:t>
            </a:r>
            <a:endParaRPr lang="en-GB" sz="2000" dirty="0">
              <a:latin typeface="Calibri"/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2000" b="1">
                <a:latin typeface="Calibri"/>
                <a:ea typeface="Calibri"/>
                <a:cs typeface="Calibri"/>
              </a:rPr>
              <a:t>One </a:t>
            </a:r>
            <a:r>
              <a:rPr lang="en-GB" sz="2000" b="1" dirty="0">
                <a:latin typeface="Calibri"/>
                <a:ea typeface="Calibri"/>
                <a:cs typeface="Calibri"/>
              </a:rPr>
              <a:t>year contract</a:t>
            </a:r>
            <a:r>
              <a:rPr lang="en-GB" sz="2000" dirty="0">
                <a:latin typeface="Calibri"/>
                <a:ea typeface="Calibri"/>
                <a:cs typeface="Calibri"/>
              </a:rPr>
              <a:t> show around </a:t>
            </a:r>
            <a:r>
              <a:rPr lang="en-GB" sz="2000">
                <a:latin typeface="Calibri"/>
                <a:ea typeface="Calibri"/>
                <a:cs typeface="Calibri"/>
              </a:rPr>
              <a:t>11% churn rate.</a:t>
            </a:r>
            <a:endParaRPr lang="en-GB" sz="2000" dirty="0">
              <a:latin typeface="Calibri"/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2000" b="1" dirty="0" err="1">
                <a:latin typeface="Calibri"/>
                <a:ea typeface="Calibri"/>
                <a:cs typeface="Calibri"/>
              </a:rPr>
              <a:t>Two year</a:t>
            </a:r>
            <a:r>
              <a:rPr lang="en-GB" sz="2000" b="1" dirty="0">
                <a:latin typeface="Calibri"/>
                <a:ea typeface="Calibri"/>
                <a:cs typeface="Calibri"/>
              </a:rPr>
              <a:t> contract </a:t>
            </a:r>
            <a:r>
              <a:rPr lang="en-GB" sz="2000" dirty="0">
                <a:latin typeface="Calibri"/>
                <a:ea typeface="Calibri"/>
                <a:cs typeface="Calibri"/>
              </a:rPr>
              <a:t>show around 3% churn rate.</a:t>
            </a:r>
          </a:p>
          <a:p>
            <a:r>
              <a:rPr lang="en-GB" sz="2000" b="1" dirty="0">
                <a:solidFill>
                  <a:srgbClr val="00B050"/>
                </a:solidFill>
                <a:latin typeface="Calibri"/>
                <a:ea typeface="Calibri"/>
                <a:cs typeface="Calibri"/>
              </a:rPr>
              <a:t>Churn rate decreases</a:t>
            </a:r>
            <a:r>
              <a:rPr lang="en-GB" sz="2000" dirty="0">
                <a:latin typeface="Calibri"/>
                <a:ea typeface="Calibri"/>
                <a:cs typeface="Calibri"/>
              </a:rPr>
              <a:t> with </a:t>
            </a:r>
            <a:r>
              <a:rPr lang="en-GB" sz="2000" b="1" dirty="0">
                <a:latin typeface="Calibri"/>
                <a:ea typeface="Calibri"/>
                <a:cs typeface="Calibri"/>
              </a:rPr>
              <a:t>increase in customer </a:t>
            </a:r>
            <a:r>
              <a:rPr lang="en-GB" sz="2000" b="1">
                <a:latin typeface="Calibri"/>
                <a:ea typeface="Calibri"/>
                <a:cs typeface="Calibri"/>
              </a:rPr>
              <a:t>lifecycle</a:t>
            </a:r>
            <a:r>
              <a:rPr lang="en-GB" sz="2000">
                <a:latin typeface="Calibri"/>
                <a:ea typeface="Calibri"/>
                <a:cs typeface="Calibri"/>
              </a:rPr>
              <a:t>:</a:t>
            </a:r>
            <a:endParaRPr lang="en-GB" sz="2000" dirty="0">
              <a:latin typeface="Calibri"/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2000" b="1" dirty="0">
                <a:latin typeface="Calibri"/>
                <a:ea typeface="Calibri"/>
                <a:cs typeface="Calibri"/>
              </a:rPr>
              <a:t>Early retention stage (12-24  mon</a:t>
            </a:r>
            <a:r>
              <a:rPr lang="en-GB" sz="2000" b="1">
                <a:latin typeface="Calibri"/>
                <a:ea typeface="Calibri"/>
                <a:cs typeface="Calibri"/>
              </a:rPr>
              <a:t>ths)</a:t>
            </a:r>
            <a:r>
              <a:rPr lang="en-GB" sz="2000">
                <a:latin typeface="Calibri"/>
                <a:ea typeface="Calibri"/>
                <a:cs typeface="Calibri"/>
              </a:rPr>
              <a:t> show around 29% churn rate.</a:t>
            </a:r>
            <a:endParaRPr lang="en-GB" sz="2000" dirty="0">
              <a:latin typeface="Calibri"/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2000" b="1" dirty="0">
                <a:latin typeface="Calibri"/>
                <a:ea typeface="Calibri"/>
                <a:cs typeface="Calibri"/>
              </a:rPr>
              <a:t>Medium-term (24-36 months)</a:t>
            </a:r>
            <a:r>
              <a:rPr lang="en-GB" sz="2000" dirty="0">
                <a:latin typeface="Calibri"/>
                <a:ea typeface="Calibri"/>
                <a:cs typeface="Calibri"/>
              </a:rPr>
              <a:t> show around around 20% churn rate.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2000" b="1" dirty="0">
                <a:latin typeface="Calibri"/>
                <a:ea typeface="Calibri"/>
                <a:cs typeface="Calibri"/>
              </a:rPr>
              <a:t>Long-term customers (36-48 </a:t>
            </a:r>
            <a:r>
              <a:rPr lang="en-GB" sz="2000" b="1">
                <a:latin typeface="Calibri"/>
                <a:ea typeface="Calibri"/>
                <a:cs typeface="Calibri"/>
              </a:rPr>
              <a:t>months)</a:t>
            </a:r>
            <a:r>
              <a:rPr lang="en-GB" sz="2000">
                <a:latin typeface="Calibri"/>
                <a:ea typeface="Calibri"/>
                <a:cs typeface="Calibri"/>
              </a:rPr>
              <a:t> show around 10% churn rate.</a:t>
            </a:r>
            <a:endParaRPr lang="en-GB" sz="2000" dirty="0">
              <a:latin typeface="Calibri"/>
              <a:ea typeface="Calibri"/>
              <a:cs typeface="Calibri"/>
            </a:endParaRPr>
          </a:p>
          <a:p>
            <a:endParaRPr lang="en-GB" sz="2000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sz="2000" b="1" dirty="0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Insight</a:t>
            </a:r>
            <a:r>
              <a:rPr lang="en-GB" sz="2000" dirty="0">
                <a:latin typeface="Calibri"/>
                <a:ea typeface="Calibri"/>
                <a:cs typeface="Calibri"/>
              </a:rPr>
              <a:t>: Less commitment and short </a:t>
            </a:r>
            <a:r>
              <a:rPr lang="en-GB" sz="2000">
                <a:latin typeface="Calibri"/>
                <a:ea typeface="Calibri"/>
                <a:cs typeface="Calibri"/>
              </a:rPr>
              <a:t>lifecycle are churn drivers.</a:t>
            </a:r>
            <a:endParaRPr lang="en-GB" sz="2000" dirty="0">
              <a:latin typeface="Calibri"/>
              <a:ea typeface="Calibri"/>
              <a:cs typeface="Calibri"/>
            </a:endParaRPr>
          </a:p>
          <a:p>
            <a:endParaRPr lang="en-GB" sz="20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18439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5557F-5191-D550-F0AE-AD83ABFDA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b="1">
                <a:solidFill>
                  <a:schemeClr val="accent1">
                    <a:lumMod val="76000"/>
                  </a:schemeClr>
                </a:solidFill>
                <a:latin typeface="Calibri"/>
                <a:ea typeface="Calibri"/>
                <a:cs typeface="Calibri"/>
              </a:rPr>
              <a:t>Visualization – Contract Type vs Churn </a:t>
            </a:r>
            <a:r>
              <a:rPr lang="en-GB" sz="3200" b="1" dirty="0">
                <a:solidFill>
                  <a:schemeClr val="accent1">
                    <a:lumMod val="76000"/>
                  </a:schemeClr>
                </a:solidFill>
                <a:latin typeface="Calibri"/>
                <a:ea typeface="Calibri"/>
                <a:cs typeface="Calibri"/>
              </a:rPr>
              <a:t>Rate</a:t>
            </a:r>
            <a:endParaRPr lang="en-US" sz="3200" b="1">
              <a:solidFill>
                <a:schemeClr val="accent1">
                  <a:lumMod val="76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7" name="Content Placeholder 6" descr="A graph of a number of blue squares&#10;&#10;AI-generated content may be incorrect.">
            <a:extLst>
              <a:ext uri="{FF2B5EF4-FFF2-40B4-BE49-F238E27FC236}">
                <a16:creationId xmlns:a16="http://schemas.microsoft.com/office/drawing/2014/main" id="{41A4812B-71AF-13EE-C2E9-81E67EBF7D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67971" y="1825625"/>
            <a:ext cx="545605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671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B58C9-E7F7-F208-4DD6-5093C280D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b="1" dirty="0">
                <a:solidFill>
                  <a:schemeClr val="accent1">
                    <a:lumMod val="76000"/>
                  </a:schemeClr>
                </a:solidFill>
                <a:latin typeface="Calibri"/>
                <a:ea typeface="Calibri"/>
                <a:cs typeface="Calibri"/>
              </a:rPr>
              <a:t>Visuali</a:t>
            </a:r>
            <a:r>
              <a:rPr lang="en-GB" sz="3200" b="1">
                <a:solidFill>
                  <a:schemeClr val="accent1">
                    <a:lumMod val="76000"/>
                  </a:schemeClr>
                </a:solidFill>
                <a:latin typeface="Calibri"/>
                <a:ea typeface="Calibri"/>
                <a:cs typeface="Calibri"/>
              </a:rPr>
              <a:t>zation – Tenure vs Churn Rate</a:t>
            </a:r>
            <a:endParaRPr lang="en-GB" sz="3200" b="1" dirty="0">
              <a:solidFill>
                <a:schemeClr val="accent1">
                  <a:lumMod val="76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" name="Content Placeholder 3" descr="A graph of blue rectangular bars with white text&#10;&#10;AI-generated content may be incorrect.">
            <a:extLst>
              <a:ext uri="{FF2B5EF4-FFF2-40B4-BE49-F238E27FC236}">
                <a16:creationId xmlns:a16="http://schemas.microsoft.com/office/drawing/2014/main" id="{320EDA08-C656-3CF7-3045-7AFB988B2C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9998" y="1825625"/>
            <a:ext cx="589200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530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AD1E4-5DAB-1EDA-B64F-D525AC6BF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>
                <a:solidFill>
                  <a:schemeClr val="accent1">
                    <a:lumMod val="76000"/>
                  </a:schemeClr>
                </a:solidFill>
                <a:latin typeface="Calibri"/>
                <a:ea typeface="Calibri"/>
                <a:cs typeface="Calibri"/>
              </a:rPr>
              <a:t>Key Insights 2 — Payment &amp; Services</a:t>
            </a:r>
            <a:endParaRPr lang="en-US" sz="3200" b="1">
              <a:solidFill>
                <a:schemeClr val="accent1">
                  <a:lumMod val="76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41480-E9E1-91F0-BEF1-3D8A0B46D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sz="2000">
                <a:latin typeface="Calibri"/>
                <a:ea typeface="Calibri"/>
                <a:cs typeface="Calibri"/>
              </a:rPr>
              <a:t>Customers with </a:t>
            </a:r>
            <a:r>
              <a:rPr lang="en-GB" sz="2000" b="1">
                <a:latin typeface="Calibri"/>
                <a:ea typeface="Calibri"/>
                <a:cs typeface="Calibri"/>
              </a:rPr>
              <a:t>electronic check payment method</a:t>
            </a:r>
            <a:r>
              <a:rPr lang="en-GB" sz="2000">
                <a:latin typeface="Calibri"/>
                <a:ea typeface="Calibri"/>
                <a:cs typeface="Calibri"/>
              </a:rPr>
              <a:t> show </a:t>
            </a: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high churn rate (~45%).</a:t>
            </a:r>
            <a:endParaRPr lang="en-US" sz="200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  <a:p>
            <a:r>
              <a:rPr lang="en-GB" sz="2000">
                <a:latin typeface="Calibri"/>
                <a:ea typeface="Calibri"/>
                <a:cs typeface="Calibri"/>
              </a:rPr>
              <a:t>Customers opting for </a:t>
            </a:r>
            <a:r>
              <a:rPr lang="en-GB" sz="2000" b="1">
                <a:latin typeface="Calibri"/>
                <a:ea typeface="Calibri"/>
                <a:cs typeface="Calibri"/>
              </a:rPr>
              <a:t>automatic payment services</a:t>
            </a:r>
            <a:r>
              <a:rPr lang="en-GB" sz="2000">
                <a:latin typeface="Calibri"/>
                <a:ea typeface="Calibri"/>
                <a:cs typeface="Calibri"/>
              </a:rPr>
              <a:t> show </a:t>
            </a:r>
            <a:r>
              <a:rPr lang="en-GB" sz="2000">
                <a:solidFill>
                  <a:schemeClr val="accent6"/>
                </a:solidFill>
                <a:latin typeface="Calibri"/>
                <a:ea typeface="Calibri"/>
                <a:cs typeface="Calibri"/>
              </a:rPr>
              <a:t>low churn rate (~ 16%).</a:t>
            </a:r>
            <a:endParaRPr lang="en-GB" sz="2000" dirty="0">
              <a:solidFill>
                <a:schemeClr val="accent6"/>
              </a:solidFill>
              <a:latin typeface="Calibri"/>
              <a:ea typeface="Calibri"/>
              <a:cs typeface="Calibri"/>
            </a:endParaRPr>
          </a:p>
          <a:p>
            <a:r>
              <a:rPr lang="en-GB" sz="2000" dirty="0">
                <a:latin typeface="Calibri"/>
                <a:ea typeface="Calibri"/>
                <a:cs typeface="Calibri"/>
              </a:rPr>
              <a:t>Customers who do not use services like </a:t>
            </a:r>
            <a:r>
              <a:rPr lang="en-GB" sz="2000" b="1" dirty="0">
                <a:latin typeface="Calibri"/>
                <a:ea typeface="Calibri"/>
                <a:cs typeface="Calibri"/>
              </a:rPr>
              <a:t>Tech Support, Online </a:t>
            </a:r>
            <a:r>
              <a:rPr lang="en-GB" sz="2000" b="1">
                <a:latin typeface="Calibri"/>
                <a:ea typeface="Calibri"/>
                <a:cs typeface="Calibri"/>
              </a:rPr>
              <a:t>Security and Backup</a:t>
            </a:r>
            <a:r>
              <a:rPr lang="en-GB" sz="2000">
                <a:latin typeface="Calibri"/>
                <a:ea typeface="Calibri"/>
                <a:cs typeface="Calibri"/>
              </a:rPr>
              <a:t> show </a:t>
            </a: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high churn rate (39-41%).</a:t>
            </a:r>
            <a:endParaRPr lang="en-GB" sz="2000" dirty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  <a:p>
            <a:r>
              <a:rPr lang="en-GB" sz="2000" dirty="0">
                <a:latin typeface="Calibri"/>
                <a:ea typeface="Calibri"/>
                <a:cs typeface="Calibri"/>
              </a:rPr>
              <a:t>Customers who are using </a:t>
            </a:r>
            <a:r>
              <a:rPr lang="en-GB" sz="2000">
                <a:latin typeface="Calibri"/>
                <a:ea typeface="Calibri"/>
                <a:cs typeface="Calibri"/>
              </a:rPr>
              <a:t>these add on services show </a:t>
            </a:r>
            <a:r>
              <a:rPr lang="en-GB" sz="2000">
                <a:solidFill>
                  <a:schemeClr val="accent6"/>
                </a:solidFill>
                <a:latin typeface="Calibri"/>
                <a:ea typeface="Calibri"/>
                <a:cs typeface="Calibri"/>
              </a:rPr>
              <a:t>low churn rate.</a:t>
            </a:r>
            <a:endParaRPr lang="en-GB" sz="2000" dirty="0">
              <a:solidFill>
                <a:schemeClr val="accent6"/>
              </a:solidFill>
              <a:latin typeface="Calibri"/>
              <a:ea typeface="Calibri"/>
              <a:cs typeface="Calibri"/>
            </a:endParaRPr>
          </a:p>
          <a:p>
            <a:endParaRPr lang="en-GB" sz="2000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sz="2000" b="1" dirty="0">
                <a:solidFill>
                  <a:schemeClr val="accent2">
                    <a:lumMod val="76000"/>
                  </a:schemeClr>
                </a:solidFill>
                <a:latin typeface="Calibri"/>
                <a:ea typeface="Calibri"/>
                <a:cs typeface="Calibri"/>
              </a:rPr>
              <a:t>Insights</a:t>
            </a:r>
            <a:r>
              <a:rPr lang="en-GB" sz="2000" dirty="0">
                <a:latin typeface="Calibri"/>
                <a:ea typeface="Calibri"/>
                <a:cs typeface="Calibri"/>
              </a:rPr>
              <a:t>: Payment methods and add-on service </a:t>
            </a:r>
            <a:r>
              <a:rPr lang="en-GB" sz="2000">
                <a:latin typeface="Calibri"/>
                <a:ea typeface="Calibri"/>
                <a:cs typeface="Calibri"/>
              </a:rPr>
              <a:t>usage influence the churn rate.</a:t>
            </a:r>
            <a:endParaRPr lang="en-GB" sz="20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86815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BA640-F5A4-1B00-285C-6E9F83604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>
                <a:solidFill>
                  <a:schemeClr val="accent1">
                    <a:lumMod val="76000"/>
                  </a:schemeClr>
                </a:solidFill>
                <a:latin typeface="Calibri"/>
                <a:ea typeface="Calibri"/>
                <a:cs typeface="Calibri"/>
              </a:rPr>
              <a:t>Visualization – Payment Methods vs Churn Rate</a:t>
            </a:r>
            <a:endParaRPr lang="en-US" sz="3200" b="1">
              <a:solidFill>
                <a:schemeClr val="accent1">
                  <a:lumMod val="76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BAFE090-A33A-2F79-EF67-19A6AD0072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57383" y="1825625"/>
            <a:ext cx="507723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520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A58E0-278D-63BA-C5F8-800A6CD04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>
                <a:solidFill>
                  <a:schemeClr val="accent1">
                    <a:lumMod val="76000"/>
                  </a:schemeClr>
                </a:solidFill>
                <a:latin typeface="Calibri"/>
                <a:ea typeface="Calibri"/>
                <a:cs typeface="Calibri"/>
              </a:rPr>
              <a:t>Visualization – Tech Support Usage vs Churn Rate</a:t>
            </a:r>
          </a:p>
        </p:txBody>
      </p:sp>
      <p:pic>
        <p:nvPicPr>
          <p:cNvPr id="4" name="Content Placeholder 3" descr="A graph of a number of blue rectangular bars&#10;&#10;AI-generated content may be incorrect.">
            <a:extLst>
              <a:ext uri="{FF2B5EF4-FFF2-40B4-BE49-F238E27FC236}">
                <a16:creationId xmlns:a16="http://schemas.microsoft.com/office/drawing/2014/main" id="{9F3A1670-E69C-4FE0-42ED-242CB54903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98360" y="1825625"/>
            <a:ext cx="559527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457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14614-F4E2-536E-C6EB-A450796C3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b="1" dirty="0">
                <a:latin typeface="Calibri"/>
                <a:ea typeface="Calibri"/>
                <a:cs typeface="Calibri"/>
              </a:rPr>
              <a:t>High-Risk and Low-</a:t>
            </a:r>
            <a:r>
              <a:rPr lang="en-GB" sz="3200" b="1">
                <a:latin typeface="Calibri"/>
                <a:ea typeface="Calibri"/>
                <a:cs typeface="Calibri"/>
              </a:rPr>
              <a:t>Risk Customer Segments</a:t>
            </a:r>
            <a:endParaRPr lang="en-US" sz="3200" b="1">
              <a:latin typeface="Calibri"/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6C453-3831-A550-A3FC-9BFDCFB977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GB" sz="2000" b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High-Risk Customer Segment:</a:t>
            </a:r>
            <a:endParaRPr lang="en-US" sz="2000" b="1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2000">
                <a:latin typeface="Calibri"/>
                <a:ea typeface="Calibri"/>
                <a:cs typeface="Calibri"/>
              </a:rPr>
              <a:t>Fiber optic internet service</a:t>
            </a:r>
            <a:endParaRPr lang="en-GB" sz="2000" dirty="0">
              <a:latin typeface="Calibri"/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2000">
                <a:latin typeface="Calibri"/>
                <a:ea typeface="Calibri"/>
                <a:cs typeface="Calibri"/>
              </a:rPr>
              <a:t>Month-to-month contract type</a:t>
            </a:r>
            <a:endParaRPr lang="en-GB" sz="2000" dirty="0">
              <a:latin typeface="Calibri"/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2000">
                <a:latin typeface="Calibri"/>
                <a:ea typeface="Calibri"/>
                <a:cs typeface="Calibri"/>
              </a:rPr>
              <a:t>Electronic check payment method</a:t>
            </a:r>
            <a:endParaRPr lang="en-GB" sz="2000" dirty="0">
              <a:latin typeface="Calibri"/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2000">
                <a:latin typeface="Calibri"/>
                <a:ea typeface="Calibri"/>
                <a:cs typeface="Calibri"/>
              </a:rPr>
              <a:t>New customers group tenure (0-12 months)</a:t>
            </a:r>
            <a:endParaRPr lang="en-GB" sz="2000" dirty="0">
              <a:latin typeface="Calibri"/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2000">
                <a:latin typeface="Calibri"/>
                <a:ea typeface="Calibri"/>
                <a:cs typeface="Calibri"/>
              </a:rPr>
              <a:t>no tech support services</a:t>
            </a:r>
            <a:endParaRPr lang="en-GB" sz="2000" dirty="0">
              <a:latin typeface="Calibri"/>
              <a:ea typeface="Calibri"/>
              <a:cs typeface="Calibri"/>
            </a:endParaRPr>
          </a:p>
          <a:p>
            <a:r>
              <a:rPr lang="en-GB" sz="2000" b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Churn Rate: ~ 72 %</a:t>
            </a:r>
            <a:endParaRPr lang="en-GB" sz="2000" b="1" dirty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  <a:p>
            <a:r>
              <a:rPr lang="en-GB" sz="2000" b="1">
                <a:solidFill>
                  <a:srgbClr val="00B050"/>
                </a:solidFill>
                <a:latin typeface="Calibri"/>
                <a:ea typeface="Calibri"/>
                <a:cs typeface="Calibri"/>
              </a:rPr>
              <a:t>Low-Risk Segment:</a:t>
            </a:r>
            <a:endParaRPr lang="en-GB" sz="2000" b="1" dirty="0">
              <a:solidFill>
                <a:srgbClr val="00B050"/>
              </a:solidFill>
              <a:latin typeface="Calibri"/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2000">
                <a:latin typeface="Calibri"/>
                <a:ea typeface="Calibri"/>
                <a:cs typeface="Calibri"/>
              </a:rPr>
              <a:t>Two-year contract</a:t>
            </a:r>
            <a:endParaRPr lang="en-GB" sz="2000" dirty="0">
              <a:latin typeface="Calibri"/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2000">
                <a:latin typeface="Calibri"/>
                <a:ea typeface="Calibri"/>
                <a:cs typeface="Calibri"/>
              </a:rPr>
              <a:t>Auto payment methods</a:t>
            </a:r>
            <a:endParaRPr lang="en-GB" sz="2000" dirty="0">
              <a:latin typeface="Calibri"/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2000">
                <a:latin typeface="Calibri"/>
                <a:ea typeface="Calibri"/>
                <a:cs typeface="Calibri"/>
              </a:rPr>
              <a:t>Long-term customers</a:t>
            </a:r>
            <a:endParaRPr lang="en-GB" sz="2000" dirty="0">
              <a:latin typeface="Calibri"/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2000">
                <a:latin typeface="Calibri"/>
                <a:ea typeface="Calibri"/>
                <a:cs typeface="Calibri"/>
              </a:rPr>
              <a:t>Add on services adoption</a:t>
            </a:r>
            <a:endParaRPr lang="en-GB" sz="2000" dirty="0">
              <a:latin typeface="Calibri"/>
              <a:ea typeface="Calibri"/>
              <a:cs typeface="Calibri"/>
            </a:endParaRPr>
          </a:p>
          <a:p>
            <a:r>
              <a:rPr lang="en-GB" sz="2000" b="1">
                <a:solidFill>
                  <a:srgbClr val="00B050"/>
                </a:solidFill>
                <a:latin typeface="Calibri"/>
                <a:ea typeface="Calibri"/>
                <a:cs typeface="Calibri"/>
              </a:rPr>
              <a:t>Churn Rate: ~2 %</a:t>
            </a:r>
            <a:endParaRPr lang="en-GB" sz="2000" b="1" dirty="0">
              <a:solidFill>
                <a:srgbClr val="00B050"/>
              </a:solidFill>
              <a:latin typeface="Calibri"/>
              <a:ea typeface="Calibri"/>
              <a:cs typeface="Calibri"/>
            </a:endParaRPr>
          </a:p>
          <a:p>
            <a:endParaRPr lang="en-GB" sz="20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12635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B9EAB-4217-9A8E-5907-381E4A66B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>
                <a:solidFill>
                  <a:schemeClr val="accent1">
                    <a:lumMod val="76000"/>
                  </a:schemeClr>
                </a:solidFill>
                <a:latin typeface="Calibri"/>
                <a:ea typeface="Calibri"/>
                <a:cs typeface="Calibri"/>
              </a:rPr>
              <a:t>Recommendations</a:t>
            </a:r>
            <a:endParaRPr lang="en-US" sz="3200" b="1">
              <a:solidFill>
                <a:schemeClr val="accent1">
                  <a:lumMod val="76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26A35-46BB-1E1D-E9AA-79C8A7886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GB" sz="2000" b="1">
                <a:latin typeface="Calibri"/>
                <a:ea typeface="Calibri"/>
                <a:cs typeface="Calibri"/>
              </a:rPr>
              <a:t>Improve customer onboarding experience</a:t>
            </a:r>
            <a:r>
              <a:rPr lang="en-GB" sz="2000">
                <a:latin typeface="Calibri"/>
                <a:ea typeface="Calibri"/>
                <a:cs typeface="Calibri"/>
              </a:rPr>
              <a:t> through guided service activation and proactive tech support.</a:t>
            </a:r>
            <a:endParaRPr lang="en-GB" sz="2000" dirty="0">
              <a:latin typeface="Calibri"/>
              <a:ea typeface="Calibri"/>
              <a:cs typeface="Calibri"/>
            </a:endParaRPr>
          </a:p>
          <a:p>
            <a:r>
              <a:rPr lang="en-GB" sz="2000" b="1">
                <a:latin typeface="Calibri"/>
                <a:ea typeface="Calibri"/>
                <a:cs typeface="Calibri"/>
              </a:rPr>
              <a:t>Encourage customers on opting for long term contracts</a:t>
            </a:r>
            <a:r>
              <a:rPr lang="en-GB" sz="2000">
                <a:latin typeface="Calibri"/>
                <a:ea typeface="Calibri"/>
                <a:cs typeface="Calibri"/>
              </a:rPr>
              <a:t> by offering small discounts and upgrade incentives.</a:t>
            </a:r>
            <a:endParaRPr lang="en-GB" sz="2000" dirty="0">
              <a:latin typeface="Calibri"/>
              <a:ea typeface="Calibri"/>
              <a:cs typeface="Calibri"/>
            </a:endParaRPr>
          </a:p>
          <a:p>
            <a:r>
              <a:rPr lang="en-GB" sz="2000" b="1">
                <a:latin typeface="Calibri"/>
                <a:ea typeface="Calibri"/>
                <a:cs typeface="Calibri"/>
              </a:rPr>
              <a:t>Offer bundled value-added services</a:t>
            </a:r>
            <a:r>
              <a:rPr lang="en-GB" sz="2000">
                <a:latin typeface="Calibri"/>
                <a:ea typeface="Calibri"/>
                <a:cs typeface="Calibri"/>
              </a:rPr>
              <a:t> and </a:t>
            </a:r>
            <a:r>
              <a:rPr lang="en-GB" sz="2000" b="1">
                <a:latin typeface="Calibri"/>
                <a:ea typeface="Calibri"/>
                <a:cs typeface="Calibri"/>
              </a:rPr>
              <a:t>trial periods on streaming services.</a:t>
            </a:r>
          </a:p>
          <a:p>
            <a:r>
              <a:rPr lang="en-GB" sz="2000" b="1">
                <a:latin typeface="Calibri"/>
                <a:ea typeface="Calibri"/>
                <a:cs typeface="Calibri"/>
              </a:rPr>
              <a:t>Promote auto-payment method</a:t>
            </a:r>
            <a:r>
              <a:rPr lang="en-GB" sz="2000">
                <a:latin typeface="Calibri"/>
                <a:ea typeface="Calibri"/>
                <a:cs typeface="Calibri"/>
              </a:rPr>
              <a:t>s and </a:t>
            </a:r>
            <a:r>
              <a:rPr lang="en-GB" sz="2000" b="1">
                <a:latin typeface="Calibri"/>
                <a:ea typeface="Calibri"/>
                <a:cs typeface="Calibri"/>
              </a:rPr>
              <a:t>cashless online payment methods</a:t>
            </a:r>
            <a:r>
              <a:rPr lang="en-GB" sz="2000">
                <a:latin typeface="Calibri"/>
                <a:ea typeface="Calibri"/>
                <a:cs typeface="Calibri"/>
              </a:rPr>
              <a:t> highlighting the ease, secure and seamless method of transaction.</a:t>
            </a:r>
            <a:endParaRPr lang="en-GB" sz="2000" dirty="0">
              <a:latin typeface="Calibri"/>
              <a:ea typeface="Calibri"/>
              <a:cs typeface="Calibri"/>
            </a:endParaRPr>
          </a:p>
          <a:p>
            <a:r>
              <a:rPr lang="en-GB" sz="2000" b="1" dirty="0">
                <a:latin typeface="Calibri"/>
                <a:ea typeface="Calibri"/>
                <a:cs typeface="Calibri"/>
              </a:rPr>
              <a:t>Target high risk segment customers</a:t>
            </a:r>
            <a:r>
              <a:rPr lang="en-GB" sz="2000" dirty="0">
                <a:latin typeface="Calibri"/>
                <a:ea typeface="Calibri"/>
                <a:cs typeface="Calibri"/>
              </a:rPr>
              <a:t> with personalized strategies and offers for retention.</a:t>
            </a:r>
          </a:p>
        </p:txBody>
      </p:sp>
    </p:spTree>
    <p:extLst>
      <p:ext uri="{BB962C8B-B14F-4D97-AF65-F5344CB8AC3E}">
        <p14:creationId xmlns:p14="http://schemas.microsoft.com/office/powerpoint/2010/main" val="1653284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Customer Churn &amp; Retention Analysis</vt:lpstr>
      <vt:lpstr>Business Problem</vt:lpstr>
      <vt:lpstr>Key Insights 1 — Customer Behaviour (Contracts and Tenure)</vt:lpstr>
      <vt:lpstr>Visualization – Contract Type vs Churn Rate</vt:lpstr>
      <vt:lpstr>Visualization – Tenure vs Churn Rate</vt:lpstr>
      <vt:lpstr>Key Insights 2 — Payment &amp; Services</vt:lpstr>
      <vt:lpstr>Visualization – Payment Methods vs Churn Rate</vt:lpstr>
      <vt:lpstr>Visualization – Tech Support Usage vs Churn Rate</vt:lpstr>
      <vt:lpstr>High-Risk and Low-Risk Customer Segments</vt:lpstr>
      <vt:lpstr>Recommendations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394</cp:revision>
  <dcterms:created xsi:type="dcterms:W3CDTF">2026-03-28T10:01:53Z</dcterms:created>
  <dcterms:modified xsi:type="dcterms:W3CDTF">2026-03-28T15:58:53Z</dcterms:modified>
</cp:coreProperties>
</file>